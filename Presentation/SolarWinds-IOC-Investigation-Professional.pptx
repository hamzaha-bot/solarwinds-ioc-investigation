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73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CYB102 · THE DATA DIG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647395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Educational incident-response simulation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640080"/>
            <a:ext cx="0" cy="512064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640080"/>
            <a:ext cx="0" cy="512064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640080"/>
            <a:ext cx="0" cy="512064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23960" y="640080"/>
            <a:ext cx="0" cy="512064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0" y="640080"/>
            <a:ext cx="0" cy="512064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46920" y="640080"/>
            <a:ext cx="0" cy="512064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0" y="640080"/>
            <a:ext cx="0" cy="512064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9880" y="640080"/>
            <a:ext cx="0" cy="512064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640080"/>
            <a:ext cx="0" cy="512064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914400"/>
            <a:ext cx="4572000" cy="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1417320"/>
            <a:ext cx="4572000" cy="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920240"/>
            <a:ext cx="4572000" cy="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2423160"/>
            <a:ext cx="4572000" cy="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2926080"/>
            <a:ext cx="4572000" cy="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3429000"/>
            <a:ext cx="4572000" cy="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3931920"/>
            <a:ext cx="4572000" cy="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4434840"/>
            <a:ext cx="4572000" cy="0"/>
          </a:xfrm>
          <a:prstGeom prst="line">
            <a:avLst/>
          </a:prstGeom>
          <a:noFill/>
          <a:ln w="7620">
            <a:solidFill>
              <a:srgbClr val="17324A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234440"/>
            <a:ext cx="128016" cy="12801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38360" y="1737360"/>
            <a:ext cx="128016" cy="128016"/>
          </a:xfrm>
          <a:prstGeom prst="ellipse">
            <a:avLst/>
          </a:prstGeom>
          <a:solidFill>
            <a:srgbClr val="FB5A64"/>
          </a:solidFill>
          <a:ln w="12700">
            <a:solidFill>
              <a:srgbClr val="FB5A6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44200" y="2743200"/>
            <a:ext cx="128016" cy="12801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3794760"/>
            <a:ext cx="128016" cy="128016"/>
          </a:xfrm>
          <a:prstGeom prst="ellipse">
            <a:avLst/>
          </a:prstGeom>
          <a:solidFill>
            <a:srgbClr val="FB5A64"/>
          </a:solidFill>
          <a:ln w="12700">
            <a:solidFill>
              <a:srgbClr val="FB5A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9960" y="4617720"/>
            <a:ext cx="128016" cy="12801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5074920"/>
            <a:ext cx="128016" cy="128016"/>
          </a:xfrm>
          <a:prstGeom prst="ellipse">
            <a:avLst/>
          </a:prstGeom>
          <a:solidFill>
            <a:srgbClr val="FB5A64"/>
          </a:solidFill>
          <a:ln w="12700">
            <a:solidFill>
              <a:srgbClr val="FB5A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685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CYB102 GROUP CAPSTONE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12344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SolarWinds IOC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Investigation</a:t>
            </a:r>
            <a:endParaRPr lang="en-US" sz="3100" dirty="0"/>
          </a:p>
        </p:txBody>
      </p:sp>
      <p:sp>
        <p:nvSpPr>
          <p:cNvPr id="27" name="Text 25"/>
          <p:cNvSpPr/>
          <p:nvPr/>
        </p:nvSpPr>
        <p:spPr>
          <a:xfrm>
            <a:off x="694944" y="299923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Detecting suspicious network activity using Splunk and threat intelligence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4944" y="385876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016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392277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SPLUNK CORRELATION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2587752" y="3858768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B5A64">
              <a:alpha val="15000"/>
            </a:srgbClr>
          </a:solidFill>
          <a:ln w="10160">
            <a:solidFill>
              <a:srgbClr val="FB5A64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9192" y="392277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B5A6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VIRUSTOTAL VALIDATION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4645152" y="3858768"/>
            <a:ext cx="1901952" cy="310896"/>
          </a:xfrm>
          <a:prstGeom prst="roundRect">
            <a:avLst>
              <a:gd name="adj" fmla="val 50000"/>
            </a:avLst>
          </a:prstGeom>
          <a:solidFill>
            <a:srgbClr val="2DD4BF">
              <a:alpha val="15000"/>
            </a:srgbClr>
          </a:solidFill>
          <a:ln w="1016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392277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NIST INCIDENT RESPONSE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694944" y="49834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Team 43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783080" y="49834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Yifan · Hamzah · Jessica · Daksh · Jeiss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52360" y="987552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0C1728"/>
          </a:solidFill>
          <a:ln w="12700">
            <a:solidFill>
              <a:srgbClr val="1732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5A6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IOC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823960" y="148132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→ correlate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66760" y="22677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LOGS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372600" y="23317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→ validate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936992" y="32186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THREAT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9235440" y="32918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→ respond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21040" y="42245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ACTION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· PROJECT OVERVIEW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indicators to actionable incident context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21792" y="125272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team correlated known SolarWinds indicators with internal proxy logs, then used external threat intelligence to validate suspicious activity.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32238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75104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B5A6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primary IOC findings highlighted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18288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32238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975104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37560" y="2395728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correlated events surfaced in Splunk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87568" y="18288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32238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975104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52160" y="2395728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triage severity assigned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02168" y="18288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32238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975104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NIST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66760" y="2395728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response framework applied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127248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4015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3767328"/>
            <a:ext cx="48006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Identify internal systems that communicated with known malicious SolarWinds infrastructure and determine the response priority.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327648" y="3127248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132238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3401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the analysis demonstrated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65392" y="3767328"/>
            <a:ext cx="461772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Correlation of internal network logs with external IOC data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Threat validation using VirusTotal vendor detections</a:t>
            </a:r>
            <a:endParaRPr lang="en-US" sz="1220" dirty="0"/>
          </a:p>
          <a:p>
            <a:pPr marL="203200" indent="-203200">
              <a:buSzPct val="100000"/>
              <a:buChar char="•"/>
            </a:pPr>
            <a:r>
              <a:rPr lang="en-US" sz="1220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Asset prioritization and remediation using a structured IR process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85800" y="57150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Scope note: course-provided datasets in a simulated blue-team investigation.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· DATA &amp; TOOLING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 sources and analysis stack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21792" y="125272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datasets provided the context; Splunk enabled correlation, while VirusTotal provided external threat-intelligence validation.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075688"/>
            <a:ext cx="1325880" cy="301752"/>
          </a:xfrm>
          <a:prstGeom prst="roundRect">
            <a:avLst>
              <a:gd name="adj" fmla="val 15152"/>
            </a:avLst>
          </a:prstGeom>
          <a:solidFill>
            <a:srgbClr val="08111F">
              <a:alpha val="95000"/>
            </a:srgbClr>
          </a:solidFill>
          <a:ln w="8890">
            <a:solidFill>
              <a:srgbClr val="FB5A64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2139696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B5A6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SOURCE 01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96112" y="2578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SolarWinds IOC Dataset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072384"/>
            <a:ext cx="26974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Known malicious indicators associated with the SolarWinds campaign.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fields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430682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IP Address · Indicator type · Notes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70832" y="18288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8576" y="2075688"/>
            <a:ext cx="1325880" cy="301752"/>
          </a:xfrm>
          <a:prstGeom prst="roundRect">
            <a:avLst>
              <a:gd name="adj" fmla="val 15152"/>
            </a:avLst>
          </a:prstGeom>
          <a:solidFill>
            <a:srgbClr val="08111F">
              <a:alpha val="95000"/>
            </a:srgbClr>
          </a:solidFill>
          <a:ln w="889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139696"/>
            <a:ext cx="11247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SOURCE 02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608576" y="25786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Network Proxy Logs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08576" y="3072384"/>
            <a:ext cx="26974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Internal network events used to identify which systems communicated with suspicious infrastructure.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08576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fields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08576" y="430682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Timestamp · IP Address · Computer Name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132238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2075688"/>
            <a:ext cx="1298448" cy="301752"/>
          </a:xfrm>
          <a:prstGeom prst="roundRect">
            <a:avLst>
              <a:gd name="adj" fmla="val 15152"/>
            </a:avLst>
          </a:prstGeom>
          <a:solidFill>
            <a:srgbClr val="08111F">
              <a:alpha val="95000"/>
            </a:srgbClr>
          </a:solidFill>
          <a:ln w="889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0768" y="213969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ANALYSIS STACK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330184" y="26243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Splunk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330184" y="2999232"/>
            <a:ext cx="26974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Search, field extraction, and IOC-to-log correlation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30184" y="38953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5A6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VirusTotal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30184" y="4270248"/>
            <a:ext cx="26974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Independent validation of suspicious IP addresses using multiple security vendors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· INVESTIGATION METHOD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repeatable correlation workflow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21792" y="125272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analysis moved from raw datasets to validated, prioritized findings using a simple five-step process.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9808" y="1810512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83664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88720" y="1801368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Ingest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77440" y="1901952"/>
            <a:ext cx="384048" cy="182880"/>
          </a:xfrm>
          <a:prstGeom prst="chevron">
            <a:avLst/>
          </a:prstGeom>
          <a:solidFill>
            <a:srgbClr val="26364C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0088" y="1810512"/>
            <a:ext cx="329184" cy="3291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1883664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29000" y="1801368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Extract IOCs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901952"/>
            <a:ext cx="384048" cy="182880"/>
          </a:xfrm>
          <a:prstGeom prst="chevron">
            <a:avLst/>
          </a:prstGeom>
          <a:solidFill>
            <a:srgbClr val="26364C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30368" y="181051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1883664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0" y="1801368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1901952"/>
            <a:ext cx="384048" cy="182880"/>
          </a:xfrm>
          <a:prstGeom prst="chevron">
            <a:avLst/>
          </a:prstGeom>
          <a:solidFill>
            <a:srgbClr val="26364C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70648" y="1810512"/>
            <a:ext cx="329184" cy="329184"/>
          </a:xfrm>
          <a:prstGeom prst="ellipse">
            <a:avLst/>
          </a:prstGeom>
          <a:solidFill>
            <a:srgbClr val="FB5A64"/>
          </a:solidFill>
          <a:ln w="12700">
            <a:solidFill>
              <a:srgbClr val="FB5A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0648" y="1883664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909560" y="1801368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98280" y="1901952"/>
            <a:ext cx="384048" cy="182880"/>
          </a:xfrm>
          <a:prstGeom prst="chevron">
            <a:avLst/>
          </a:prstGeom>
          <a:solidFill>
            <a:srgbClr val="26364C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10928" y="1810512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10928" y="1883664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149840" y="1801368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Prioritize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2487168"/>
            <a:ext cx="10881360" cy="3456432"/>
          </a:xfrm>
          <a:prstGeom prst="roundRect">
            <a:avLst>
              <a:gd name="adj" fmla="val 2116"/>
            </a:avLst>
          </a:prstGeom>
          <a:solidFill>
            <a:srgbClr val="0B1627"/>
          </a:solidFill>
          <a:ln w="12700">
            <a:solidFill>
              <a:srgbClr val="26364C"/>
            </a:solidFill>
            <a:prstDash val="solid"/>
          </a:ln>
        </p:spPr>
      </p:sp>
      <p:pic>
        <p:nvPicPr>
          <p:cNvPr id="25" name="Image 0" descr="/mnt/data/investigation-method-splu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251" y="2670048"/>
            <a:ext cx="9053594" cy="2980944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896112" y="5577840"/>
            <a:ext cx="2971800" cy="301752"/>
          </a:xfrm>
          <a:prstGeom prst="roundRect">
            <a:avLst>
              <a:gd name="adj" fmla="val 15152"/>
            </a:avLst>
          </a:prstGeom>
          <a:solidFill>
            <a:srgbClr val="08111F">
              <a:alpha val="95000"/>
            </a:srgbClr>
          </a:solidFill>
          <a:ln w="889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96696" y="5641848"/>
            <a:ext cx="2770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ORIGINAL SPLUNK EVIDENCE · 5 CORRELATED EVENTS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4087368" y="5577840"/>
            <a:ext cx="6967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Query correlates proxy-log IPs with SolarWinds IOC data and returns IP, host, and timestamp for triage.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· FINDING 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IOC match: 5.252.177.25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21792" y="125272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proxy-log event matched a known SolarWinds indicator and was validated by multiple VirusTotal vendors.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794760" cy="4096512"/>
          </a:xfrm>
          <a:prstGeom prst="roundRect">
            <a:avLst>
              <a:gd name="adj" fmla="val 1928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075688"/>
            <a:ext cx="1508760" cy="301752"/>
          </a:xfrm>
          <a:prstGeom prst="roundRect">
            <a:avLst>
              <a:gd name="adj" fmla="val 15152"/>
            </a:avLst>
          </a:prstGeom>
          <a:solidFill>
            <a:srgbClr val="08111F">
              <a:alpha val="95000"/>
            </a:srgbClr>
          </a:solidFill>
          <a:ln w="889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2139696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SPLUNK CORRELATION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96112" y="259689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5.252.177.25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96112" y="31363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LN-SolarStrike-14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54787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2024-03-05 07:11:28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96112" y="4005072"/>
            <a:ext cx="3246120" cy="0"/>
          </a:xfrm>
          <a:prstGeom prst="line">
            <a:avLst/>
          </a:prstGeom>
          <a:noFill/>
          <a:ln w="12700">
            <a:solidFill>
              <a:srgbClr val="2636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242816"/>
            <a:ext cx="3246120" cy="1389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Matched in both the internal proxy logs and the IOC dataset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VirusTotal showed 15 / 94 vendor detections at capture time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Indicates potential exposure to malicious infrastructure — not proof of compromise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4718304" y="1828800"/>
            <a:ext cx="6821424" cy="4096512"/>
          </a:xfrm>
          <a:prstGeom prst="roundRect">
            <a:avLst>
              <a:gd name="adj" fmla="val 1786"/>
            </a:avLst>
          </a:prstGeom>
          <a:solidFill>
            <a:srgbClr val="0B1627"/>
          </a:solidFill>
          <a:ln w="12700">
            <a:solidFill>
              <a:srgbClr val="26364C"/>
            </a:solidFill>
            <a:prstDash val="solid"/>
          </a:ln>
        </p:spPr>
      </p:sp>
      <p:pic>
        <p:nvPicPr>
          <p:cNvPr id="14" name="Image 0" descr="/mnt/data/ioc-match-5-252-177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1184" y="2109254"/>
            <a:ext cx="6455664" cy="335272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979408" y="5559552"/>
            <a:ext cx="2148840" cy="301752"/>
          </a:xfrm>
          <a:prstGeom prst="roundRect">
            <a:avLst>
              <a:gd name="adj" fmla="val 15152"/>
            </a:avLst>
          </a:prstGeom>
          <a:solidFill>
            <a:srgbClr val="08111F">
              <a:alpha val="95000"/>
            </a:srgbClr>
          </a:solidFill>
          <a:ln w="8890">
            <a:solidFill>
              <a:srgbClr val="FB5A64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79992" y="56235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B5A6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ORIGINAL VIRUSTOTAL EVIDENCE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· FINDING 02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IOC match: 13.59.205.66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21792" y="125272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second host communicated with another IOC; VirusTotal vendor detections reinforced the threat signal.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794760" cy="4096512"/>
          </a:xfrm>
          <a:prstGeom prst="roundRect">
            <a:avLst>
              <a:gd name="adj" fmla="val 1928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075688"/>
            <a:ext cx="1508760" cy="301752"/>
          </a:xfrm>
          <a:prstGeom prst="roundRect">
            <a:avLst>
              <a:gd name="adj" fmla="val 15152"/>
            </a:avLst>
          </a:prstGeom>
          <a:solidFill>
            <a:srgbClr val="08111F">
              <a:alpha val="95000"/>
            </a:srgbClr>
          </a:solidFill>
          <a:ln w="889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2139696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SPLUNK CORRELATION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96112" y="259689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13.59.205.66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96112" y="31363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WS-SolarWave-212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354787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2024-03-04 06:57:28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96112" y="4005072"/>
            <a:ext cx="3246120" cy="0"/>
          </a:xfrm>
          <a:prstGeom prst="line">
            <a:avLst/>
          </a:prstGeom>
          <a:noFill/>
          <a:ln w="12700">
            <a:solidFill>
              <a:srgbClr val="2636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242816"/>
            <a:ext cx="3246120" cy="1389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Matched against the SolarWinds IOC list in Splunk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VirusTotal showed 8 / 94 vendor detections at capture time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second affected system increased the investigation scope and response priority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4718304" y="1828800"/>
            <a:ext cx="6821424" cy="4096512"/>
          </a:xfrm>
          <a:prstGeom prst="roundRect">
            <a:avLst>
              <a:gd name="adj" fmla="val 1786"/>
            </a:avLst>
          </a:prstGeom>
          <a:solidFill>
            <a:srgbClr val="0B1627"/>
          </a:solidFill>
          <a:ln w="12700">
            <a:solidFill>
              <a:srgbClr val="26364C"/>
            </a:solidFill>
            <a:prstDash val="solid"/>
          </a:ln>
        </p:spPr>
      </p:sp>
      <p:pic>
        <p:nvPicPr>
          <p:cNvPr id="14" name="Image 0" descr="/mnt/data/ioc-match-13-59-205-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1184" y="2116227"/>
            <a:ext cx="6455664" cy="333877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979408" y="5559552"/>
            <a:ext cx="2148840" cy="301752"/>
          </a:xfrm>
          <a:prstGeom prst="roundRect">
            <a:avLst>
              <a:gd name="adj" fmla="val 15152"/>
            </a:avLst>
          </a:prstGeom>
          <a:solidFill>
            <a:srgbClr val="08111F">
              <a:alpha val="95000"/>
            </a:srgbClr>
          </a:solidFill>
          <a:ln w="8890">
            <a:solidFill>
              <a:srgbClr val="FB5A64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79992" y="56235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B5A6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ORIGINAL VIRUSTOTAL EVIDENCE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· IMPACT &amp; TRIAGE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the incident was prioritized as HIGH severity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21792" y="125272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evidence showed repeated communication between internal systems and known malicious infrastructure, requiring immediate containment and deeper investigation.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56232"/>
            <a:ext cx="2743200" cy="3858768"/>
          </a:xfrm>
          <a:prstGeom prst="roundRect">
            <a:avLst>
              <a:gd name="adj" fmla="val 2667"/>
            </a:avLst>
          </a:prstGeom>
          <a:solidFill>
            <a:srgbClr val="132238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5856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5A6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TRIAGE SEVERITY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3438144"/>
            <a:ext cx="20848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Potential exposure to known malicious infrastructure across more than one internal system.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882896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Priority: contain, investigate, and monitor.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703320" y="1856232"/>
            <a:ext cx="3685032" cy="1572768"/>
          </a:xfrm>
          <a:prstGeom prst="roundRect">
            <a:avLst>
              <a:gd name="adj" fmla="val 4651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41064" y="2075688"/>
            <a:ext cx="1353312" cy="301752"/>
          </a:xfrm>
          <a:prstGeom prst="roundRect">
            <a:avLst>
              <a:gd name="adj" fmla="val 15152"/>
            </a:avLst>
          </a:prstGeom>
          <a:solidFill>
            <a:srgbClr val="08111F">
              <a:alpha val="95000"/>
            </a:srgbClr>
          </a:solidFill>
          <a:ln w="889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41648" y="2139696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AFFECTED ASSET 01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941064" y="2587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LN-SolarStrike-14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41064" y="29900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Matched 5.252.177.25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62672" y="1856232"/>
            <a:ext cx="3685032" cy="1572768"/>
          </a:xfrm>
          <a:prstGeom prst="roundRect">
            <a:avLst>
              <a:gd name="adj" fmla="val 4651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0416" y="2075688"/>
            <a:ext cx="1353312" cy="301752"/>
          </a:xfrm>
          <a:prstGeom prst="roundRect">
            <a:avLst>
              <a:gd name="adj" fmla="val 15152"/>
            </a:avLst>
          </a:prstGeom>
          <a:solidFill>
            <a:srgbClr val="08111F">
              <a:alpha val="95000"/>
            </a:srgbClr>
          </a:solidFill>
          <a:ln w="889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2139696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AFFECTED ASSET 02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7900416" y="2587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WS-SolarWave-212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00416" y="29900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Matched 13.59.205.66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03320" y="3703320"/>
            <a:ext cx="7644384" cy="2011680"/>
          </a:xfrm>
          <a:prstGeom prst="roundRect">
            <a:avLst>
              <a:gd name="adj" fmla="val 3636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59352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 chain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968496" y="4453128"/>
            <a:ext cx="329184" cy="3291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68496" y="452628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98264" y="43891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Internal logs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4398264" y="471830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Host → external IP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760720" y="4453128"/>
            <a:ext cx="329184" cy="3291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452628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90488" y="43891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IOC match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190488" y="471830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External IP on SolarWinds list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552944" y="4453128"/>
            <a:ext cx="329184" cy="3291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52944" y="452628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982712" y="43891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Threat validation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7982712" y="471830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Multiple VT vendors flag malicious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345168" y="4453128"/>
            <a:ext cx="329184" cy="329184"/>
          </a:xfrm>
          <a:prstGeom prst="ellipse">
            <a:avLst/>
          </a:prstGeom>
          <a:solidFill>
            <a:srgbClr val="FB5A64"/>
          </a:solidFill>
          <a:ln w="12700">
            <a:solidFill>
              <a:srgbClr val="FB5A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45168" y="452628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11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774936" y="43891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Triage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9774936" y="471830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Prioritize containment &amp; investigation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 · THREAT INTELLIGENCE &amp; REMEDIATION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Turn validated indicators into containment actions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21792" y="125272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Threat intelligence strengthened confidence in the IOC matches; remediation focused on cutting off malicious communication and validating endpoint integrity.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56232"/>
            <a:ext cx="5230368" cy="3886200"/>
          </a:xfrm>
          <a:prstGeom prst="roundRect">
            <a:avLst>
              <a:gd name="adj" fmla="val 1882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396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Threat intelligence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33472"/>
            <a:ext cx="4526280" cy="1572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VirusTotal vendor detections supported the SolarWinds IOC matches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Repeated IOC-to-host correlations increased confidence that the events were not isolated noise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Vendor counts are point-in-time observations and can change as threat intelligence evolves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5994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5A6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Analyst conclusion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Treat the affected hosts as potentially exposed and move quickly to containment and verification.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44768" y="1856232"/>
            <a:ext cx="5394960" cy="3886200"/>
          </a:xfrm>
          <a:prstGeom prst="roundRect">
            <a:avLst>
              <a:gd name="adj" fmla="val 1882"/>
            </a:avLst>
          </a:prstGeom>
          <a:solidFill>
            <a:srgbClr val="132238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39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Recommended remediation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267919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B5A6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876288" y="267004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Block malicious IPs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9107424" y="2670048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Firewall / proxy controls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876288" y="3108960"/>
            <a:ext cx="4160520" cy="0"/>
          </a:xfrm>
          <a:prstGeom prst="line">
            <a:avLst/>
          </a:prstGeom>
          <a:noFill/>
          <a:ln w="10160">
            <a:solidFill>
              <a:srgbClr val="2636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333756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876288" y="332841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Investigate affected hosts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9107424" y="3328416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Malware scan + endpoint review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6876288" y="3767328"/>
            <a:ext cx="4160520" cy="0"/>
          </a:xfrm>
          <a:prstGeom prst="line">
            <a:avLst/>
          </a:prstGeom>
          <a:noFill/>
          <a:ln w="10160">
            <a:solidFill>
              <a:srgbClr val="2636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39959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3B82F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6876288" y="398678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 outbound traffic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9107424" y="3986784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Look for repeat connections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6876288" y="4425696"/>
            <a:ext cx="4160520" cy="0"/>
          </a:xfrm>
          <a:prstGeom prst="line">
            <a:avLst/>
          </a:prstGeom>
          <a:noFill/>
          <a:ln w="10160">
            <a:solidFill>
              <a:srgbClr val="2636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465429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DD4B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6876288" y="46451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Improve detection rules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9107424" y="4645152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Alert on known IOC matches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 · INCIDENT RESPONSE PLAYBOOK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NIST-aligned response, adapted for IOC-driven log analysis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21792" y="125272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team used the NIST incident-response lifecycle as the backbone for a repeatable investigation and case-management process.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94944" y="1847088"/>
            <a:ext cx="2057400" cy="1490472"/>
          </a:xfrm>
          <a:prstGeom prst="roundRect">
            <a:avLst>
              <a:gd name="adj" fmla="val 4908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039112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59536" y="242316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9536" y="28346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Define sources, tools, and evidence fields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2971800" y="1847088"/>
            <a:ext cx="2057400" cy="1490472"/>
          </a:xfrm>
          <a:prstGeom prst="roundRect">
            <a:avLst>
              <a:gd name="adj" fmla="val 4908"/>
            </a:avLst>
          </a:prstGeom>
          <a:solidFill>
            <a:srgbClr val="132238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2039112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36392" y="242316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Detection &amp;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36392" y="28346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Correlate logs with IOC data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5248656" y="1847088"/>
            <a:ext cx="2057400" cy="1490472"/>
          </a:xfrm>
          <a:prstGeom prst="roundRect">
            <a:avLst>
              <a:gd name="adj" fmla="val 4908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13248" y="2039112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5A6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13248" y="242316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Containment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13248" y="28346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Block malicious IP communication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7525512" y="1847088"/>
            <a:ext cx="2057400" cy="1490472"/>
          </a:xfrm>
          <a:prstGeom prst="roundRect">
            <a:avLst>
              <a:gd name="adj" fmla="val 4908"/>
            </a:avLst>
          </a:prstGeom>
          <a:solidFill>
            <a:srgbClr val="132238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0104" y="2039112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690104" y="242316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Eradication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90104" y="28346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Investigate / clean affected hosts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9802368" y="1847088"/>
            <a:ext cx="2057400" cy="1490472"/>
          </a:xfrm>
          <a:prstGeom prst="roundRect">
            <a:avLst>
              <a:gd name="adj" fmla="val 4908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2039112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966960" y="242316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Recovery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66960" y="28346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 and strengthen detections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694944" y="3703320"/>
            <a:ext cx="10698480" cy="1920240"/>
          </a:xfrm>
          <a:prstGeom prst="roundRect">
            <a:avLst>
              <a:gd name="adj" fmla="val 3810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3977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Case-management record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" y="44622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Indicator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932688" y="484632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5.252.177.25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2971800" y="446227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Asset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2971800" y="484632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LN-SolarStrike-14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5285232" y="44622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Timestamp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5285232" y="484632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2024-03-05 07:11:28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7507224" y="4462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Threat verdict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7507224" y="48463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VT: malicious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9409176" y="4462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Response action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9409176" y="48463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Contain + investigate</a:t>
            </a:r>
            <a:endParaRPr lang="en-US" sz="970" dirty="0"/>
          </a:p>
        </p:txBody>
      </p:sp>
      <p:sp>
        <p:nvSpPr>
          <p:cNvPr id="37" name="Text 35"/>
          <p:cNvSpPr/>
          <p:nvPr/>
        </p:nvSpPr>
        <p:spPr>
          <a:xfrm>
            <a:off x="932688" y="53400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Repeatable documentation keeps evidence, ownership, and remediation aligned across the response lifecycle.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 · KEY TAKEAWAYS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3504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this investigation demonstrated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21792" y="125272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strongest lesson was not a single IOC — it was the value of combining internal telemetry, external intelligence, and a disciplined response process.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874520"/>
            <a:ext cx="5257800" cy="1572768"/>
          </a:xfrm>
          <a:prstGeom prst="roundRect">
            <a:avLst>
              <a:gd name="adj" fmla="val 4651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0848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26464" y="20756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Correlation creates context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26464" y="257860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IP is more useful when tied to a specific internal host and timestamp.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6181344" y="1874520"/>
            <a:ext cx="5257800" cy="1572768"/>
          </a:xfrm>
          <a:prstGeom prst="roundRect">
            <a:avLst>
              <a:gd name="adj" fmla="val 4651"/>
            </a:avLst>
          </a:prstGeom>
          <a:solidFill>
            <a:srgbClr val="132238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20848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5A6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31152" y="20756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Validation raises confidence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31152" y="257860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Threat-intelligence sources help distinguish likely malicious infrastructure from background noise.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676656" y="3749040"/>
            <a:ext cx="5257800" cy="1572768"/>
          </a:xfrm>
          <a:prstGeom prst="roundRect">
            <a:avLst>
              <a:gd name="adj" fmla="val 4651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593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26464" y="39502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Triage turns data into action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26464" y="445312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Multiple affected systems and validated IOCs justified a HIGH-priority response.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181344" y="3749040"/>
            <a:ext cx="5257800" cy="1572768"/>
          </a:xfrm>
          <a:prstGeom prst="roundRect">
            <a:avLst>
              <a:gd name="adj" fmla="val 4651"/>
            </a:avLst>
          </a:prstGeom>
          <a:solidFill>
            <a:srgbClr val="132238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39593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31152" y="39502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 makes response repeatable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31152" y="445312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NIST-aligned playbook helps teams contain, investigate, recover, and document consistently.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694944" y="57881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Portfolio takeaway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39112" y="5742432"/>
            <a:ext cx="9006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Splunk + IOC correlation + VirusTotal validation + NIST incident response = a complete blue-team investigation story.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115568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SolarWinds IOC Investigation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6609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3703320"/>
            <a:ext cx="5166360" cy="1481328"/>
          </a:xfrm>
          <a:prstGeom prst="roundRect">
            <a:avLst>
              <a:gd name="adj" fmla="val 4938"/>
            </a:avLst>
          </a:prstGeom>
          <a:solidFill>
            <a:srgbClr val="0F1B2D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40050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Team 43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50976" y="44165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Yifan · Hamzah · Jessica · Daksh · Jeiss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0976" y="4782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CYB102 · The Data Dig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995160" y="91440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0C1728"/>
          </a:solidFill>
          <a:ln w="12700">
            <a:solidFill>
              <a:srgbClr val="173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1572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LOGS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805672" y="1664208"/>
            <a:ext cx="530352" cy="228600"/>
          </a:xfrm>
          <a:prstGeom prst="chevron">
            <a:avLst/>
          </a:prstGeom>
          <a:solidFill>
            <a:srgbClr val="26364C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00032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5A6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IOC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8339328" y="2743200"/>
            <a:ext cx="530352" cy="228600"/>
          </a:xfrm>
          <a:prstGeom prst="chevron">
            <a:avLst/>
          </a:prstGeom>
          <a:solidFill>
            <a:srgbClr val="26364C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33101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THREAT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756648" y="3401568"/>
            <a:ext cx="530352" cy="228600"/>
          </a:xfrm>
          <a:prstGeom prst="chevron">
            <a:avLst/>
          </a:prstGeom>
          <a:solidFill>
            <a:srgbClr val="26364C"/>
          </a:solidFill>
          <a:ln w="12700">
            <a:solidFill>
              <a:srgbClr val="2636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4315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ACTION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CodePath CYB102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SolarWinds IOC Investigation</dc:title>
  <dc:subject>SolarWinds IOC Investigation - CYB102 Group Capstone</dc:subject>
  <dc:creator>Hamzah and CYB102 Team 43</dc:creator>
  <cp:lastModifiedBy>Hamzah and CYB102 Team 43</cp:lastModifiedBy>
  <cp:revision>1</cp:revision>
  <dcterms:created xsi:type="dcterms:W3CDTF">2026-10-18T05:24:44Z</dcterms:created>
  <dcterms:modified xsi:type="dcterms:W3CDTF">2026-10-18T05:24:44Z</dcterms:modified>
</cp:coreProperties>
</file>